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Heebo Light" pitchFamily="2" charset="-79"/>
      <p:regular r:id="rId13"/>
    </p:embeddedFont>
    <p:embeddedFont>
      <p:font typeface="Montserrat" panose="00000500000000000000" pitchFamily="2" charset="0"/>
      <p:regular r:id="rId14"/>
    </p:embeddedFont>
    <p:embeddedFont>
      <p:font typeface="Montserrat Light" panose="00000400000000000000" pitchFamily="2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7031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517079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Análisis del comportamiento de compra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3058641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Alumno: Alexis Vera Vicente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96119" y="3444925"/>
            <a:ext cx="517996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Proyecto: 3,900 transacciones — insights para decisiones comerciales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898452"/>
            <a:ext cx="4722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Resumen del conjunto de datos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925119" y="2465412"/>
            <a:ext cx="472276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Filas: 3,900 • Columnas: 18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Variables clave: demografía, detalles de compra, comportamiento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Valores nulos: 37 en calificación (review_rating)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55365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Preparación y limpieza (Python)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129324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515145"/>
            <a:ext cx="4004965" cy="19050"/>
          </a:xfrm>
          <a:prstGeom prst="rect">
            <a:avLst/>
          </a:prstGeom>
          <a:solidFill>
            <a:srgbClr val="581CA0"/>
          </a:solidFill>
          <a:ln/>
        </p:spPr>
      </p:sp>
      <p:sp>
        <p:nvSpPr>
          <p:cNvPr id="5" name="Text 3"/>
          <p:cNvSpPr/>
          <p:nvPr/>
        </p:nvSpPr>
        <p:spPr>
          <a:xfrm>
            <a:off x="496119" y="1624087"/>
            <a:ext cx="4004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Carga y exploración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1930598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pandas: df.info(), .describe()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42842" y="129324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42842" y="1515145"/>
            <a:ext cx="4005039" cy="19050"/>
          </a:xfrm>
          <a:prstGeom prst="rect">
            <a:avLst/>
          </a:prstGeom>
          <a:solidFill>
            <a:srgbClr val="581CA0"/>
          </a:solidFill>
          <a:ln/>
        </p:spPr>
      </p:sp>
      <p:sp>
        <p:nvSpPr>
          <p:cNvPr id="9" name="Text 7"/>
          <p:cNvSpPr/>
          <p:nvPr/>
        </p:nvSpPr>
        <p:spPr>
          <a:xfrm>
            <a:off x="4642842" y="1624087"/>
            <a:ext cx="40050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Manejo de nulos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642842" y="1930598"/>
            <a:ext cx="400503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Imputación: mediana por categoría para review_rating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6119" y="2405435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6119" y="2613199"/>
            <a:ext cx="4004965" cy="19050"/>
          </a:xfrm>
          <a:prstGeom prst="rect">
            <a:avLst/>
          </a:prstGeom>
          <a:solidFill>
            <a:srgbClr val="581CA0"/>
          </a:solidFill>
          <a:ln/>
        </p:spPr>
      </p:sp>
      <p:sp>
        <p:nvSpPr>
          <p:cNvPr id="13" name="Text 11"/>
          <p:cNvSpPr/>
          <p:nvPr/>
        </p:nvSpPr>
        <p:spPr>
          <a:xfrm>
            <a:off x="496119" y="2736279"/>
            <a:ext cx="4004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Estandarización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96119" y="3042791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Renombrar columnas a snake_case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42842" y="2405435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42842" y="2613199"/>
            <a:ext cx="4005039" cy="19050"/>
          </a:xfrm>
          <a:prstGeom prst="rect">
            <a:avLst/>
          </a:prstGeom>
          <a:solidFill>
            <a:srgbClr val="581CA0"/>
          </a:solidFill>
          <a:ln/>
        </p:spPr>
      </p:sp>
      <p:sp>
        <p:nvSpPr>
          <p:cNvPr id="17" name="Text 15"/>
          <p:cNvSpPr/>
          <p:nvPr/>
        </p:nvSpPr>
        <p:spPr>
          <a:xfrm>
            <a:off x="4642842" y="2736279"/>
            <a:ext cx="40050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Ingeniería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642842" y="3042791"/>
            <a:ext cx="400503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grupo_edad, purchase_frequency_days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6119" y="3517627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6119" y="3711178"/>
            <a:ext cx="4004965" cy="19050"/>
          </a:xfrm>
          <a:prstGeom prst="rect">
            <a:avLst/>
          </a:prstGeom>
          <a:solidFill>
            <a:srgbClr val="581CA0"/>
          </a:solidFill>
          <a:ln/>
        </p:spPr>
      </p:sp>
      <p:sp>
        <p:nvSpPr>
          <p:cNvPr id="21" name="Text 19"/>
          <p:cNvSpPr/>
          <p:nvPr/>
        </p:nvSpPr>
        <p:spPr>
          <a:xfrm>
            <a:off x="496119" y="3848472"/>
            <a:ext cx="4004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Consistencia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96119" y="4154984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eliminar promo_code_used (redundante)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42842" y="3517627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06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42842" y="3711178"/>
            <a:ext cx="4005039" cy="19050"/>
          </a:xfrm>
          <a:prstGeom prst="rect">
            <a:avLst/>
          </a:prstGeom>
          <a:solidFill>
            <a:srgbClr val="581CA0"/>
          </a:solidFill>
          <a:ln/>
        </p:spPr>
      </p:sp>
      <p:sp>
        <p:nvSpPr>
          <p:cNvPr id="25" name="Text 23"/>
          <p:cNvSpPr/>
          <p:nvPr/>
        </p:nvSpPr>
        <p:spPr>
          <a:xfrm>
            <a:off x="4642842" y="3848472"/>
            <a:ext cx="40050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Integración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642842" y="4154984"/>
            <a:ext cx="400503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Exportar a MSSQL/Postgres para análisis SQL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706687"/>
            <a:ext cx="3053135" cy="173005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99892" y="1690762"/>
            <a:ext cx="4752677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Ingresos por género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899892" y="2186880"/>
            <a:ext cx="520987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Comparar ingresos totales: hombres vs mujeres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899892" y="2541240"/>
            <a:ext cx="5209877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SQL: group by sexo → SUM(monto_de_compra)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3899892" y="2882131"/>
            <a:ext cx="4752677" cy="552748"/>
          </a:xfrm>
          <a:prstGeom prst="roundRect">
            <a:avLst>
              <a:gd name="adj" fmla="val 10772"/>
            </a:avLst>
          </a:prstGeom>
          <a:solidFill>
            <a:srgbClr val="31136C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1651" y="3087663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60590" y="3045098"/>
            <a:ext cx="460742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Insight: identificar brechas para campañas segmentadas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996404"/>
            <a:ext cx="3053135" cy="173005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99892" y="1175370"/>
            <a:ext cx="4752677" cy="70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Usuarios con descuento y alto gasto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899892" y="2025848"/>
            <a:ext cx="520987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Identificar clientes que usan descuento pero gastan ≥ media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899892" y="2380208"/>
            <a:ext cx="5209877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Acción: ofertas selectivas para mantener margen</a:t>
            </a:r>
            <a:endParaRPr lang="en-US" sz="8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045396"/>
            <a:ext cx="4004965" cy="126109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413508" y="3151733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656927" y="3612356"/>
            <a:ext cx="36833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Segmento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656927" y="3918868"/>
            <a:ext cx="36833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Compradores de alto valor con uso de descuento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42842" y="3045396"/>
            <a:ext cx="4005039" cy="126109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560232" y="3151733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4803651" y="3612356"/>
            <a:ext cx="36834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Oportunidad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4803651" y="3918868"/>
            <a:ext cx="36834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Ofertas por lealtad, no solo descuento general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801862"/>
            <a:ext cx="3902943" cy="15397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3283" y="2335105"/>
            <a:ext cx="776411" cy="2112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Identify Top Products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1103283" y="2576420"/>
            <a:ext cx="776411" cy="84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Find top-rated items</a:t>
            </a:r>
            <a:endParaRPr lang="en-US" sz="500" dirty="0"/>
          </a:p>
        </p:txBody>
      </p:sp>
      <p:sp>
        <p:nvSpPr>
          <p:cNvPr id="5" name="Text 2"/>
          <p:cNvSpPr/>
          <p:nvPr/>
        </p:nvSpPr>
        <p:spPr>
          <a:xfrm>
            <a:off x="2068544" y="2397899"/>
            <a:ext cx="776411" cy="2112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Rank by Average Review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2068544" y="2639214"/>
            <a:ext cx="776411" cy="1690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Order by AVG(customer_rating)</a:t>
            </a:r>
            <a:endParaRPr lang="en-US" sz="500" dirty="0"/>
          </a:p>
        </p:txBody>
      </p:sp>
      <p:sp>
        <p:nvSpPr>
          <p:cNvPr id="7" name="Text 4"/>
          <p:cNvSpPr/>
          <p:nvPr/>
        </p:nvSpPr>
        <p:spPr>
          <a:xfrm>
            <a:off x="3045072" y="2335105"/>
            <a:ext cx="776410" cy="2112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Promote in Marketing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3045072" y="2576420"/>
            <a:ext cx="776410" cy="1690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Use reviews in product listings</a:t>
            </a:r>
            <a:endParaRPr lang="en-US" sz="500" dirty="0"/>
          </a:p>
        </p:txBody>
      </p:sp>
      <p:sp>
        <p:nvSpPr>
          <p:cNvPr id="9" name="Text 6"/>
          <p:cNvSpPr/>
          <p:nvPr/>
        </p:nvSpPr>
        <p:spPr>
          <a:xfrm>
            <a:off x="4749701" y="1690836"/>
            <a:ext cx="390294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Productos mejor valorados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749701" y="2186955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Top 5 por calificación media → priorizar en campañas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749701" y="2541315"/>
            <a:ext cx="436014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SQL: agrupar por articulo_comprado → AVG(calificacion_del_cliente)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749701" y="2882205"/>
            <a:ext cx="3902943" cy="552748"/>
          </a:xfrm>
          <a:prstGeom prst="roundRect">
            <a:avLst>
              <a:gd name="adj" fmla="val 10772"/>
            </a:avLst>
          </a:prstGeom>
          <a:solidFill>
            <a:srgbClr val="31136C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1460" y="3087737"/>
            <a:ext cx="177180" cy="14175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10398" y="3045172"/>
            <a:ext cx="375768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Usar reseñas en fichas de producto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360289"/>
            <a:ext cx="3053135" cy="173005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99892" y="1716435"/>
            <a:ext cx="4752677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Comparación por tipo de envío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899892" y="2212553"/>
            <a:ext cx="520987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Promedio de monto por envío Standard vs Express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899892" y="2566913"/>
            <a:ext cx="5209877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Implicación: segmentar promociones de envío urgente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496119" y="3484587"/>
            <a:ext cx="70842" cy="70842"/>
          </a:xfrm>
          <a:prstGeom prst="ellipse">
            <a:avLst/>
          </a:prstGeom>
          <a:solidFill>
            <a:srgbClr val="581CA0"/>
          </a:solidFill>
          <a:ln/>
        </p:spPr>
      </p:sp>
      <p:sp>
        <p:nvSpPr>
          <p:cNvPr id="7" name="Text 4"/>
          <p:cNvSpPr/>
          <p:nvPr/>
        </p:nvSpPr>
        <p:spPr>
          <a:xfrm>
            <a:off x="708720" y="3409280"/>
            <a:ext cx="377465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Standard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08720" y="3715792"/>
            <a:ext cx="377465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Menor gasto medio → promociones de cross-sell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0553" y="3484587"/>
            <a:ext cx="70842" cy="70842"/>
          </a:xfrm>
          <a:prstGeom prst="ellipse">
            <a:avLst/>
          </a:prstGeom>
          <a:solidFill>
            <a:srgbClr val="581CA0"/>
          </a:solidFill>
          <a:ln/>
        </p:spPr>
      </p:sp>
      <p:sp>
        <p:nvSpPr>
          <p:cNvPr id="10" name="Text 7"/>
          <p:cNvSpPr/>
          <p:nvPr/>
        </p:nvSpPr>
        <p:spPr>
          <a:xfrm>
            <a:off x="4873154" y="3409280"/>
            <a:ext cx="377472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Express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873154" y="3715792"/>
            <a:ext cx="377472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Mayor gasto medio → foco en upsell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586285"/>
            <a:ext cx="3478039" cy="19708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24796" y="1513656"/>
            <a:ext cx="4327773" cy="70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Suscriptores vs no suscriptores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324796" y="2364135"/>
            <a:ext cx="4784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Comparar gasto promedio, ingreso total y conteo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324796" y="2718495"/>
            <a:ext cx="478497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SQL: agrupar por estado_de_suscripcion → COUNT, AVG, SUM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4324796" y="3059385"/>
            <a:ext cx="4327773" cy="552748"/>
          </a:xfrm>
          <a:prstGeom prst="roundRect">
            <a:avLst>
              <a:gd name="adj" fmla="val 10772"/>
            </a:avLst>
          </a:prstGeom>
          <a:solidFill>
            <a:srgbClr val="31136C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6555" y="3264917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785494" y="3222352"/>
            <a:ext cx="418251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Estrategia: beneficios exclusivos para aumentar ARPU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832693"/>
            <a:ext cx="3478039" cy="347803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24796" y="1115318"/>
            <a:ext cx="4327773" cy="70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Recomendaciones empresariales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324796" y="1965796"/>
            <a:ext cx="4327773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Impulsar suscripciones: beneficios exclusivos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Programas de fidelización: incentivar recurrentes → leales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Revisar política de descuentos: proteger márgenes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Posicionar productos top: destacar mejor valorados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Marketing dirigido: por grupo_edad y envío urgente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324796" y="3457575"/>
            <a:ext cx="4327773" cy="552748"/>
          </a:xfrm>
          <a:prstGeom prst="roundRect">
            <a:avLst>
              <a:gd name="adj" fmla="val 10772"/>
            </a:avLst>
          </a:prstGeom>
          <a:solidFill>
            <a:srgbClr val="31136C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6555" y="3663107"/>
            <a:ext cx="177180" cy="1417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85494" y="3620542"/>
            <a:ext cx="418251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Priorizar acciones con mayor ROI a corto plazo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04738"/>
            <a:ext cx="4722763" cy="343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Panel de control &amp; próximos pasos</a:t>
            </a:r>
            <a:endParaRPr lang="en-US" sz="2150" dirty="0"/>
          </a:p>
        </p:txBody>
      </p:sp>
      <p:sp>
        <p:nvSpPr>
          <p:cNvPr id="4" name="Text 1"/>
          <p:cNvSpPr/>
          <p:nvPr/>
        </p:nvSpPr>
        <p:spPr>
          <a:xfrm>
            <a:off x="3925119" y="947514"/>
            <a:ext cx="5179963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Power BI: tablero interactivo con filtros por segmento, categoría y tiempo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3925119" y="1313483"/>
            <a:ext cx="137294" cy="823987"/>
          </a:xfrm>
          <a:prstGeom prst="roundRect">
            <a:avLst>
              <a:gd name="adj" fmla="val 42013"/>
            </a:avLst>
          </a:prstGeom>
          <a:solidFill>
            <a:srgbClr val="31136C"/>
          </a:solidFill>
          <a:ln w="4763">
            <a:solidFill>
              <a:srgbClr val="4A2C8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95390" y="1450777"/>
            <a:ext cx="4452491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 Validar segmentos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95390" y="1745084"/>
            <a:ext cx="4452491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Revisar segmentación (Nuevo, Recurrente, Leal)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131097" y="2270447"/>
            <a:ext cx="137294" cy="823987"/>
          </a:xfrm>
          <a:prstGeom prst="roundRect">
            <a:avLst>
              <a:gd name="adj" fmla="val 42013"/>
            </a:avLst>
          </a:prstGeom>
          <a:solidFill>
            <a:srgbClr val="31136C"/>
          </a:solidFill>
          <a:ln w="4763">
            <a:solidFill>
              <a:srgbClr val="4A2C8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401369" y="2407741"/>
            <a:ext cx="4246513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 Implementar pruebas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401369" y="2702049"/>
            <a:ext cx="4246513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Campañas A/B: suscripción y descuentos selectivos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37075" y="3227412"/>
            <a:ext cx="137294" cy="823987"/>
          </a:xfrm>
          <a:prstGeom prst="roundRect">
            <a:avLst>
              <a:gd name="adj" fmla="val 42013"/>
            </a:avLst>
          </a:prstGeom>
          <a:solidFill>
            <a:srgbClr val="31136C"/>
          </a:solidFill>
          <a:ln w="4763">
            <a:solidFill>
              <a:srgbClr val="4A2C8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07347" y="3364706"/>
            <a:ext cx="4040535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 Medir &amp; escalar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607347" y="3659014"/>
            <a:ext cx="4040535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KPIs: ARPU, retención, tasa de conversión por canal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925119" y="4201046"/>
            <a:ext cx="4722763" cy="537642"/>
          </a:xfrm>
          <a:prstGeom prst="roundRect">
            <a:avLst>
              <a:gd name="adj" fmla="val 10729"/>
            </a:avLst>
          </a:prstGeom>
          <a:solidFill>
            <a:srgbClr val="31136C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2413" y="4395341"/>
            <a:ext cx="171599" cy="13729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371305" y="4368329"/>
            <a:ext cx="4596482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Entrega: informe final y panel interactivo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452</Words>
  <Application>Microsoft Office PowerPoint</Application>
  <PresentationFormat>Presentación en pantalla (16:9)</PresentationFormat>
  <Paragraphs>86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Montserrat</vt:lpstr>
      <vt:lpstr>Heebo Light</vt:lpstr>
      <vt:lpstr>Montserrat Light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alex vera</cp:lastModifiedBy>
  <cp:revision>2</cp:revision>
  <dcterms:created xsi:type="dcterms:W3CDTF">2026-07-13T00:55:21Z</dcterms:created>
  <dcterms:modified xsi:type="dcterms:W3CDTF">2026-07-13T01:02:26Z</dcterms:modified>
</cp:coreProperties>
</file>